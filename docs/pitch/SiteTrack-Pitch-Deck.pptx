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286000"/>
            <a:ext cx="6400800" cy="6400800"/>
          </a:xfrm>
          <a:prstGeom prst="ellipse">
            <a:avLst/>
          </a:prstGeom>
          <a:solidFill>
            <a:srgbClr val="D97706">
              <a:alpha val="20000"/>
            </a:srgbClr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01 · 2026 · SEED PITCH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972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spc="-200" kern="0" dirty="0">
                <a:solidFill>
                  <a:srgbClr val="FFF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site,
</a:t>
            </a:r>
            <a:pPr indent="0" marL="0">
              <a:buNone/>
            </a:pPr>
            <a:r>
              <a:rPr lang="en-US" sz="6400" spc="-200" kern="0" dirty="0">
                <a:solidFill>
                  <a:srgbClr val="FFF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drawing,
</a:t>
            </a:r>
            <a:pPr indent="0" marL="0">
              <a:buNone/>
            </a:pPr>
            <a:r>
              <a:rPr lang="en-US" sz="6400" i="1" spc="-200" kern="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quiet record.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548640" y="5212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5C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SiteTrack Pro — The editorial-grade construction record for Indian builders.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Rakesh Boyapati  ·  Founder &amp; CEO  ·  hello@sitetrack.in  ·  +91 ●●●●● ●●●●●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E8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spc="-100" kern="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Indian builders run their firms on chai and chaos.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3566160" cy="3657600"/>
          </a:xfrm>
          <a:prstGeom prst="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65176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spc="-200" kern="0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₹2.4 L Cr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402336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loss to disputes + rework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poor record-keeping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0" y="2377440"/>
            <a:ext cx="3566160" cy="3657600"/>
          </a:xfrm>
          <a:prstGeom prst="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265176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spc="-200" kern="0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663440" y="402336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mid-size Indian builders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use Excel + WhatsApp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0" y="2377440"/>
            <a:ext cx="3566160" cy="3657600"/>
          </a:xfrm>
          <a:prstGeom prst="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65176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spc="-200" kern="0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₹50k/yr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8503920" y="402336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RERA penalty per project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late filings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Procore costs ₹31,000 per user per month. They priced 90% of Indian builders out.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SiteTrack Pro · GiggleZen Technologies · Hyderabad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spc="-100" kern="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₹2,300 Cr SaaS market hiding inside a $400B economy.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1064240" cy="960120"/>
          </a:xfrm>
          <a:prstGeom prst="rect">
            <a:avLst>
              <a:gd name="adj" fmla="val 11429"/>
            </a:avLst>
          </a:prstGeom>
          <a:solidFill>
            <a:srgbClr val="FEF6E2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4871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spc="-100" kern="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₹2,300 Cr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120640" y="2670048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construction SaaS market FY26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0" y="3520440"/>
            <a:ext cx="9418320" cy="960120"/>
          </a:xfrm>
          <a:prstGeom prst="rect">
            <a:avLst>
              <a:gd name="adj" fmla="val 11429"/>
            </a:avLst>
          </a:prstGeom>
          <a:solidFill>
            <a:srgbClr val="FAEBC8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36301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45920" y="38404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spc="-100" kern="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₹800 Cr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943600" y="381304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builders (₹50-500cr turnover) — 8,000 firms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0" y="4663440"/>
            <a:ext cx="6675120" cy="960120"/>
          </a:xfrm>
          <a:prstGeom prst="rect">
            <a:avLst>
              <a:gd name="adj" fmla="val 11429"/>
            </a:avLst>
          </a:prstGeom>
          <a:solidFill>
            <a:srgbClr val="FBBF2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47731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17520" y="49834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spc="-100" kern="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₹120 Cr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315200" y="495604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Year-5 capturable share at 15% of SAM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 YoY growth · 41M sq ft of new construction every month in India.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SiteTrack Pro · GiggleZen Technologies · Hyderabad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spc="-100" kern="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editorial-grade workspace, built for the way Indian sites work.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5394960" cy="164592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788920"/>
            <a:ext cx="640080" cy="640080"/>
          </a:xfrm>
          <a:prstGeom prst="ellipse">
            <a:avLst/>
          </a:prstGeom>
          <a:solidFill>
            <a:srgbClr val="FEF6E2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7432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Indian standard native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645920" y="324612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BOQ + RA bills + Measurement Book + GST + RERA — built-in, not bolted 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2468880"/>
            <a:ext cx="5394960" cy="164592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2788920"/>
            <a:ext cx="640080" cy="640080"/>
          </a:xfrm>
          <a:prstGeom prst="ellipse">
            <a:avLst/>
          </a:prstGeom>
          <a:solidFill>
            <a:srgbClr val="FEF6E2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🎛️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0" y="27432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Toggle-driven scope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315200" y="324612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features. Each org admin picks their set. Each user sees only what's enabled.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297680"/>
            <a:ext cx="5394960" cy="164592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617720"/>
            <a:ext cx="640080" cy="640080"/>
          </a:xfrm>
          <a:prstGeom prst="ellipse">
            <a:avLst/>
          </a:prstGeom>
          <a:solidFill>
            <a:srgbClr val="FEF6E2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617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45920" y="45720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Tenant isolation at DB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645920" y="507492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Row Level Security on every table. Cross-tenant leak impossible.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4297680"/>
            <a:ext cx="5394960" cy="164592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4617720"/>
            <a:ext cx="640080" cy="640080"/>
          </a:xfrm>
          <a:prstGeom prst="ellipse">
            <a:avLst/>
          </a:prstGeom>
          <a:solidFill>
            <a:srgbClr val="FEF6E2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4617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315200" y="45720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Field-first + offline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315200" y="507492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+ UPI as first-class. IndexedDB queue. 3G-friendly. EN / తె / हि.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SiteTrack Pro · GiggleZen Technologies · Hyderabad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spc="-100" kern="0" dirty="0">
                <a:solidFill>
                  <a:srgbClr val="FFF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 admin panels. 3 admin tiers. 37 toggleable features.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566160" cy="3840480"/>
          </a:xfrm>
          <a:prstGeom prst="rect">
            <a:avLst>
              <a:gd name="adj" fmla="val 3846"/>
            </a:avLst>
          </a:prstGeom>
          <a:solidFill>
            <a:srgbClr val="232121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331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2BB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GiggleZen ops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3200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300"/>
              </a:spcAft>
            </a:pPr>
            <a:r>
              <a:rPr lang="en-US" sz="1200" dirty="0">
                <a:solidFill>
                  <a:srgbClr val="FFF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orgs</a:t>
            </a:r>
            <a:endParaRPr lang="en-US" sz="1200" dirty="0"/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rgbClr val="FFF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200" dirty="0"/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rgbClr val="FFF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+ MRR</a:t>
            </a:r>
            <a:endParaRPr lang="en-US" sz="1200" dirty="0"/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rgbClr val="FFF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v1 + v2</a:t>
            </a:r>
            <a:endParaRPr lang="en-US" sz="1200" dirty="0"/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rgbClr val="FFF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analytics</a:t>
            </a:r>
            <a:endParaRPr lang="en-US" sz="1200" dirty="0"/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rgbClr val="FFF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inbox</a:t>
            </a:r>
            <a:endParaRPr lang="en-US" sz="1200" dirty="0"/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rgbClr val="FFF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feature catalog</a:t>
            </a:r>
            <a:endParaRPr lang="en-US" sz="1200" dirty="0"/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rgbClr val="FFF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settings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2194560"/>
            <a:ext cx="3566160" cy="3840480"/>
          </a:xfrm>
          <a:prstGeom prst="rect">
            <a:avLst>
              <a:gd name="adj" fmla="val 3846"/>
            </a:avLst>
          </a:prstGeom>
          <a:solidFill>
            <a:srgbClr val="232121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2331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ADMIN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3440" y="2606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2BB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Builder firm owner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63440" y="3017520"/>
            <a:ext cx="3200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300"/>
              </a:spcAft>
            </a:pPr>
            <a:r>
              <a:rPr lang="en-US" sz="1200" dirty="0">
                <a:solidFill>
                  <a:srgbClr val="FFF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rgbClr val="FFF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+ roles</a:t>
            </a:r>
            <a:endParaRPr lang="en-US" sz="1200" dirty="0"/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rgbClr val="FFF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+ billing</a:t>
            </a:r>
            <a:endParaRPr lang="en-US" sz="1200" dirty="0"/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rgbClr val="FFF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200" dirty="0"/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rgbClr val="FFF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1200" dirty="0"/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rgbClr val="FFF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chains</a:t>
            </a:r>
            <a:endParaRPr lang="en-US" sz="1200" dirty="0"/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rgbClr val="FFF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rules</a:t>
            </a:r>
            <a:endParaRPr lang="en-US" sz="1200" dirty="0"/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rgbClr val="FFF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toggles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2194560"/>
            <a:ext cx="3566160" cy="3840480"/>
          </a:xfrm>
          <a:prstGeom prst="rect">
            <a:avLst>
              <a:gd name="adj" fmla="val 3846"/>
            </a:avLst>
          </a:prstGeom>
          <a:solidFill>
            <a:srgbClr val="232121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0" y="2331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USERS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503920" y="2606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2BB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 · PM · Contractor · Client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03920" y="3017520"/>
            <a:ext cx="3200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300"/>
              </a:spcAft>
            </a:pPr>
            <a:r>
              <a:rPr lang="en-US" sz="1200" dirty="0">
                <a:solidFill>
                  <a:srgbClr val="FFF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(17 sub-tabs each)</a:t>
            </a:r>
            <a:endParaRPr lang="en-US" sz="1200" dirty="0"/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rgbClr val="FFF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BOQ + RA + MB</a:t>
            </a:r>
            <a:endParaRPr lang="en-US" sz="1200" dirty="0"/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rgbClr val="FFF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Drawings + markup</a:t>
            </a:r>
            <a:endParaRPr lang="en-US" sz="1200" dirty="0"/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rgbClr val="FFF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+ RFI + CO</a:t>
            </a:r>
            <a:endParaRPr lang="en-US" sz="1200" dirty="0"/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rgbClr val="FFF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Punch + Inspections</a:t>
            </a:r>
            <a:endParaRPr lang="en-US" sz="1200" dirty="0"/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rgbClr val="FFF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Site Report</a:t>
            </a:r>
            <a:endParaRPr lang="en-US" sz="1200" dirty="0"/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rgbClr val="FFF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checks</a:t>
            </a:r>
            <a:endParaRPr lang="en-US" sz="1200" dirty="0"/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rgbClr val="FFF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Kiosks + AR overlay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E8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SiteTrack Pro · GiggleZen Technologies · Hyderabad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E8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spc="-100" kern="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 org, not per user. Per firm, not per head.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743200" cy="3657600"/>
          </a:xfrm>
          <a:prstGeom prst="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606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spc="-100" kern="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₹999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/org/mo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4297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</a:t>
            </a:r>
            <a:pPr indent="0" marL="0">
              <a:buNone/>
            </a:pPr>
            <a:r>
              <a:rPr lang="en-US" sz="13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6634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</a:t>
            </a:r>
            <a:pPr indent="0" marL="0">
              <a:buNone/>
            </a:pPr>
            <a:r>
              <a:rPr lang="en-US" sz="13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29000" y="2377440"/>
            <a:ext cx="2743200" cy="3657600"/>
          </a:xfrm>
          <a:prstGeom prst="rect">
            <a:avLst>
              <a:gd name="adj" fmla="val 6000"/>
            </a:avLst>
          </a:prstGeom>
          <a:solidFill>
            <a:srgbClr val="1C1917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2606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03320" y="28803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spc="-100" kern="0" dirty="0">
                <a:solidFill>
                  <a:srgbClr val="FFF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₹2,999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703320" y="3657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2B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/org/mo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03320" y="4297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</a:t>
            </a:r>
            <a:pPr indent="0" marL="0">
              <a:buNone/>
            </a:pPr>
            <a:r>
              <a:rPr lang="en-US" sz="1300" dirty="0">
                <a:solidFill>
                  <a:srgbClr val="C2B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03320" y="46634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</a:t>
            </a:r>
            <a:pPr indent="0" marL="0">
              <a:buNone/>
            </a:pPr>
            <a:r>
              <a:rPr lang="en-US" sz="1300" dirty="0">
                <a:solidFill>
                  <a:srgbClr val="C2B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2377440"/>
            <a:ext cx="2743200" cy="3657600"/>
          </a:xfrm>
          <a:prstGeom prst="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2606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0" y="28803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spc="-100" kern="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₹7,999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583680" y="3657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/org/mo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4297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</a:t>
            </a:r>
            <a:pPr indent="0" marL="0">
              <a:buNone/>
            </a:pPr>
            <a:r>
              <a:rPr lang="en-US" sz="13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0" y="46634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</a:t>
            </a:r>
            <a:pPr indent="0" marL="0">
              <a:buNone/>
            </a:pPr>
            <a:r>
              <a:rPr lang="en-US" sz="13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189720" y="2377440"/>
            <a:ext cx="2743200" cy="3657600"/>
          </a:xfrm>
          <a:prstGeom prst="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64040" y="2606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464040" y="28803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spc="-100" kern="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Talk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9464040" y="3657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464040" y="4297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 </a:t>
            </a:r>
            <a:pPr indent="0" marL="0">
              <a:buNone/>
            </a:pPr>
            <a:r>
              <a:rPr lang="en-US" sz="13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464040" y="46634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 </a:t>
            </a:r>
            <a:pPr indent="0" marL="0">
              <a:buNone/>
            </a:pPr>
            <a:r>
              <a:rPr lang="en-US" sz="13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Cashfree UPI AutoPay billing. ARPU ₹3,000 at scale. LTV/CAC target 4×. Gross margin 88%.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SiteTrack Pro · GiggleZen Technologies · Hyderabad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spc="-100" kern="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Built, shipped, production-grade. Now hunting first paying customers.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651760" cy="1463040"/>
          </a:xfrm>
          <a:prstGeom prst="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4688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spc="-50" kern="0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5,832 → 333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App.jsx lines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 refactor done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29000" y="2377440"/>
            <a:ext cx="2651760" cy="1463040"/>
          </a:xfrm>
          <a:prstGeom prst="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1880" y="24688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spc="-50" kern="0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272 / 272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11880" y="31089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failures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2377440"/>
            <a:ext cx="2651760" cy="1463040"/>
          </a:xfrm>
          <a:prstGeom prst="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4688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spc="-50" kern="0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276 / 276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492240" y="31089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checks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regressions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89720" y="2377440"/>
            <a:ext cx="2651760" cy="1463040"/>
          </a:xfrm>
          <a:prstGeom prst="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72600" y="24688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spc="-50" kern="0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 kB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372600" y="31089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bundle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kB gzip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18 build sessions · 7 production-ready libs · 9 Org Admin panels · 3-layer feature catalog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44805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Supabase schema + RLS Phase 1 deployed-ready · Cashfree subscription billing scaffolded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846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RLS test matrix: 42+ assertions across 6 roles · audit_log_v2 is provably append-only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5212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Onboarding wizard reduces time-to-value: 2 hours → 15 minutes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90 days: 10 design partners → 20 paying customers → ₹1.6 L MRR.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SiteTrack Pro · GiggleZen Technologies · Hyderabad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spc="-100" kern="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Procore is too expensive. Powerplay is too narrow. We are India-native and full-stack.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926080" cy="384048"/>
          </a:xfrm>
          <a:prstGeom prst="rect">
            <a:avLst/>
          </a:prstGeom>
          <a:solidFill>
            <a:srgbClr val="FEF6E2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19456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0" y="2194560"/>
            <a:ext cx="2194560" cy="384048"/>
          </a:xfrm>
          <a:prstGeom prst="rect">
            <a:avLst/>
          </a:prstGeom>
          <a:solidFill>
            <a:srgbClr val="1C1917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11880" y="21945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SiteTrack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0" y="2194560"/>
            <a:ext cx="2011680" cy="384048"/>
          </a:xfrm>
          <a:prstGeom prst="rect">
            <a:avLst/>
          </a:prstGeom>
          <a:solidFill>
            <a:srgbClr val="FEF6E2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06440" y="219456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Procore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680960" y="2194560"/>
            <a:ext cx="2011680" cy="384048"/>
          </a:xfrm>
          <a:prstGeom prst="rect">
            <a:avLst/>
          </a:prstGeom>
          <a:solidFill>
            <a:srgbClr val="FEF6E2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18120" y="219456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Powerplay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692640" y="2194560"/>
            <a:ext cx="2011680" cy="384048"/>
          </a:xfrm>
          <a:prstGeom prst="rect">
            <a:avLst/>
          </a:prstGeom>
          <a:solidFill>
            <a:srgbClr val="FEF6E2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29800" y="219456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BuildSupply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578608"/>
            <a:ext cx="2926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57860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BOQ + MB native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0" y="2578608"/>
            <a:ext cx="2194560" cy="384048"/>
          </a:xfrm>
          <a:prstGeom prst="rect">
            <a:avLst/>
          </a:prstGeom>
          <a:solidFill>
            <a:srgbClr val="FFF5DD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11880" y="25786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Native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0" y="2578608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257860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Customisation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680960" y="2578608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18120" y="257860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692640" y="2578608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29800" y="257860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Native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2962656"/>
            <a:ext cx="2926080" cy="384048"/>
          </a:xfrm>
          <a:prstGeom prst="rect">
            <a:avLst/>
          </a:prstGeom>
          <a:solidFill>
            <a:srgbClr val="FAFAF7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2962656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bills + retention math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0" y="2962656"/>
            <a:ext cx="2194560" cy="384048"/>
          </a:xfrm>
          <a:prstGeom prst="rect">
            <a:avLst/>
          </a:prstGeom>
          <a:solidFill>
            <a:srgbClr val="FFF5DD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11880" y="296265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Built-in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0" y="2962656"/>
            <a:ext cx="2011680" cy="384048"/>
          </a:xfrm>
          <a:prstGeom prst="rect">
            <a:avLst/>
          </a:prstGeom>
          <a:solidFill>
            <a:srgbClr val="FAFAF7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06440" y="296265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680960" y="2962656"/>
            <a:ext cx="2011680" cy="384048"/>
          </a:xfrm>
          <a:prstGeom prst="rect">
            <a:avLst/>
          </a:prstGeom>
          <a:solidFill>
            <a:srgbClr val="FAFAF7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18120" y="296265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692640" y="2962656"/>
            <a:ext cx="2011680" cy="384048"/>
          </a:xfrm>
          <a:prstGeom prst="rect">
            <a:avLst/>
          </a:prstGeom>
          <a:solidFill>
            <a:srgbClr val="FAFAF7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29800" y="296265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3346704"/>
            <a:ext cx="2926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3346704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 + GST auto-validate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474720" y="3346704"/>
            <a:ext cx="2194560" cy="384048"/>
          </a:xfrm>
          <a:prstGeom prst="rect">
            <a:avLst/>
          </a:prstGeom>
          <a:solidFill>
            <a:srgbClr val="FFF5DD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11880" y="334670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Live API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669280" y="3346704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06440" y="334670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680960" y="3346704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18120" y="334670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692640" y="3346704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829800" y="334670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3730752"/>
            <a:ext cx="2926080" cy="384048"/>
          </a:xfrm>
          <a:prstGeom prst="rect">
            <a:avLst/>
          </a:prstGeom>
          <a:solidFill>
            <a:srgbClr val="FAFAF7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373075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native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474720" y="3730752"/>
            <a:ext cx="2194560" cy="384048"/>
          </a:xfrm>
          <a:prstGeom prst="rect">
            <a:avLst/>
          </a:prstGeom>
          <a:solidFill>
            <a:srgbClr val="FFF5DD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11880" y="37307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Auto-DPR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669280" y="3730752"/>
            <a:ext cx="2011680" cy="384048"/>
          </a:xfrm>
          <a:prstGeom prst="rect">
            <a:avLst/>
          </a:prstGeom>
          <a:solidFill>
            <a:srgbClr val="FAFAF7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06440" y="373075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680960" y="3730752"/>
            <a:ext cx="2011680" cy="384048"/>
          </a:xfrm>
          <a:prstGeom prst="rect">
            <a:avLst/>
          </a:prstGeom>
          <a:solidFill>
            <a:srgbClr val="FAFAF7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18120" y="373075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9692640" y="3730752"/>
            <a:ext cx="2011680" cy="384048"/>
          </a:xfrm>
          <a:prstGeom prst="rect">
            <a:avLst/>
          </a:prstGeom>
          <a:solidFill>
            <a:srgbClr val="FAFAF7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829800" y="373075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48640" y="4114800"/>
            <a:ext cx="2926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5800" y="41148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AutoPay subscription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474720" y="4114800"/>
            <a:ext cx="2194560" cy="384048"/>
          </a:xfrm>
          <a:prstGeom prst="rect">
            <a:avLst/>
          </a:prstGeom>
          <a:solidFill>
            <a:srgbClr val="FFF5DD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11880" y="41148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Cashfree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669280" y="4114800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806440" y="41148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only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7680960" y="4114800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818120" y="41148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only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9692640" y="4114800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829800" y="41148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only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48640" y="4498848"/>
            <a:ext cx="2926080" cy="384048"/>
          </a:xfrm>
          <a:prstGeom prst="rect">
            <a:avLst/>
          </a:prstGeom>
          <a:solidFill>
            <a:srgbClr val="FAFAF7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85800" y="449884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feature toggles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3474720" y="4498848"/>
            <a:ext cx="2194560" cy="384048"/>
          </a:xfrm>
          <a:prstGeom prst="rect">
            <a:avLst/>
          </a:prstGeom>
          <a:solidFill>
            <a:srgbClr val="FFF5DD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11880" y="449884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37 features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5669280" y="4498848"/>
            <a:ext cx="2011680" cy="384048"/>
          </a:xfrm>
          <a:prstGeom prst="rect">
            <a:avLst/>
          </a:prstGeom>
          <a:solidFill>
            <a:srgbClr val="FAFAF7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806440" y="449884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7680960" y="4498848"/>
            <a:ext cx="2011680" cy="384048"/>
          </a:xfrm>
          <a:prstGeom prst="rect">
            <a:avLst/>
          </a:prstGeom>
          <a:solidFill>
            <a:srgbClr val="FAFAF7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818120" y="449884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9692640" y="4498848"/>
            <a:ext cx="2011680" cy="384048"/>
          </a:xfrm>
          <a:prstGeom prst="rect">
            <a:avLst/>
          </a:prstGeom>
          <a:solidFill>
            <a:srgbClr val="FAFAF7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829800" y="449884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548640" y="4882896"/>
            <a:ext cx="2926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85800" y="4882896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RLS at DB layer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3474720" y="4882896"/>
            <a:ext cx="2194560" cy="384048"/>
          </a:xfrm>
          <a:prstGeom prst="rect">
            <a:avLst/>
          </a:prstGeom>
          <a:solidFill>
            <a:srgbClr val="FFF5DD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611880" y="488289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Enforced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5669280" y="4882896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806440" y="488289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App-layer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7680960" y="4882896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818120" y="488289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App-layer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9692640" y="4882896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829800" y="488289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App-layer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548640" y="5266944"/>
            <a:ext cx="2926080" cy="384048"/>
          </a:xfrm>
          <a:prstGeom prst="rect">
            <a:avLst/>
          </a:prstGeom>
          <a:solidFill>
            <a:srgbClr val="FAFAF7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85800" y="5266944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price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3474720" y="5266944"/>
            <a:ext cx="2194560" cy="384048"/>
          </a:xfrm>
          <a:prstGeom prst="rect">
            <a:avLst/>
          </a:prstGeom>
          <a:solidFill>
            <a:srgbClr val="FFF5DD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611880" y="526694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₹999/org/mo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5669280" y="5266944"/>
            <a:ext cx="2011680" cy="384048"/>
          </a:xfrm>
          <a:prstGeom prst="rect">
            <a:avLst/>
          </a:prstGeom>
          <a:solidFill>
            <a:srgbClr val="FAFAF7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806440" y="526694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₹31k/user/mo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7680960" y="5266944"/>
            <a:ext cx="2011680" cy="384048"/>
          </a:xfrm>
          <a:prstGeom prst="rect">
            <a:avLst/>
          </a:prstGeom>
          <a:solidFill>
            <a:srgbClr val="FAFAF7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818120" y="526694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₹1.5k/user/mo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9692640" y="5266944"/>
            <a:ext cx="2011680" cy="384048"/>
          </a:xfrm>
          <a:prstGeom prst="rect">
            <a:avLst/>
          </a:prstGeom>
          <a:solidFill>
            <a:srgbClr val="FAFAF7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829800" y="526694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₹2k/user/mo</a:t>
            </a:r>
            <a:endParaRPr lang="en-US" sz="1100" dirty="0"/>
          </a:p>
        </p:txBody>
      </p:sp>
      <p:sp>
        <p:nvSpPr>
          <p:cNvPr id="94" name="Text 9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SiteTrack Pro · GiggleZen Technologies · Hyderabad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spc="-100" kern="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Builders building for builders.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3566160" cy="3657600"/>
          </a:xfrm>
          <a:prstGeom prst="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2651760"/>
            <a:ext cx="1188720" cy="11887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37360" y="265176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RB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4023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Rakesh Boyapati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434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Ex-PM at Indian construction firms. Personally lived the BOQ / RA bill / RERA pain. Built the entire product MVP solo across 18 sessions. Hyderabad.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2377440"/>
            <a:ext cx="3566160" cy="3657600"/>
          </a:xfrm>
          <a:prstGeom prst="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77840" y="2651760"/>
            <a:ext cx="1188720" cy="11887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265176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63440" y="4023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Founding Engineer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63440" y="4434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— hiring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for a senior full-stack engineer (Postgres + React) to scale the platform. Equity-heavy package. Apply: careers@gigglezen.in.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0" y="2377440"/>
            <a:ext cx="3566160" cy="3657600"/>
          </a:xfrm>
          <a:prstGeom prst="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2651760"/>
            <a:ext cx="1188720" cy="11887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0" y="265176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FS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503920" y="4023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Founding Sales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503920" y="4434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— hiring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0392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for a Hyderabad-based founding sales lead with construction industry contacts (CREDAI network preferred). Apply: careers@gigglezen.in.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board: open. Looking for ex-Procore / Powerplay leadership + 2 senior architects.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SiteTrack Pro · GiggleZen Technologies · Hyderabad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spc="-100" kern="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months to first ₹1 Cr MRR.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697480" cy="3657600"/>
          </a:xfrm>
          <a:prstGeom prst="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560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 — Activation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92608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1-3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3291840"/>
            <a:ext cx="2240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+ domain live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+ demo video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design partners (free 6 mo)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API verified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2377440"/>
            <a:ext cx="2697480" cy="3657600"/>
          </a:xfrm>
          <a:prstGeom prst="rect">
            <a:avLst>
              <a:gd name="adj" fmla="val 5085"/>
            </a:avLst>
          </a:prstGeom>
          <a:solidFill>
            <a:srgbClr val="FEF6E2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2560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 — Trade anchors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0" y="292608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4-6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0" y="3291840"/>
            <a:ext cx="2240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CREDAI Hyderabad partnership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audit anchoring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 Telangana + Karnataka API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 L MRR target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2377440"/>
            <a:ext cx="2697480" cy="3657600"/>
          </a:xfrm>
          <a:prstGeom prst="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2560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 — Self-serve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37960" y="292608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7-9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37960" y="3291840"/>
            <a:ext cx="2240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signup flow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content engine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(Capacitor)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 L MRR target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89720" y="2377440"/>
            <a:ext cx="2697480" cy="3657600"/>
          </a:xfrm>
          <a:prstGeom prst="rect">
            <a:avLst>
              <a:gd name="adj" fmla="val 5085"/>
            </a:avLst>
          </a:prstGeom>
          <a:solidFill>
            <a:srgbClr val="FEF6E2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0" y="2560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 — Geo + adjacent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418320" y="292608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10-12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418320" y="3291840"/>
            <a:ext cx="2240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Tier-2 cities (VJ/CB/IN)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marketplace launch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API + Zapier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 Cr MRR target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SiteTrack Pro · GiggleZen Technologies · Hyderabad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spc="-200" kern="0" dirty="0">
                <a:solidFill>
                  <a:srgbClr val="FFF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₹3 Cr seed round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18-month runway. ₹50 L MRR target by month 18.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2651760" cy="2651760"/>
          </a:xfrm>
          <a:prstGeom prst="rect">
            <a:avLst>
              <a:gd name="adj" fmla="val 4138"/>
            </a:avLst>
          </a:prstGeom>
          <a:solidFill>
            <a:srgbClr val="232121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3375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spc="-100" kern="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45%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31520" y="4160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marketing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57200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2B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sales hire + ₹50k/mo paid acquisition + CREDAI events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3200400"/>
            <a:ext cx="2651760" cy="2651760"/>
          </a:xfrm>
          <a:prstGeom prst="rect">
            <a:avLst>
              <a:gd name="adj" fmla="val 4138"/>
            </a:avLst>
          </a:prstGeom>
          <a:solidFill>
            <a:srgbClr val="232121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33375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spc="-100" kern="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35%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611880" y="4160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11880" y="457200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2B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senior engineers + 1 mobile dev (12 months)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3200400"/>
            <a:ext cx="2651760" cy="2651760"/>
          </a:xfrm>
          <a:prstGeom prst="rect">
            <a:avLst>
              <a:gd name="adj" fmla="val 4138"/>
            </a:avLst>
          </a:prstGeom>
          <a:solidFill>
            <a:srgbClr val="232121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33375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spc="-100" kern="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12%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6492240" y="4160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+ legal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457200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2B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 API access, SOC2 audit, data residency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00400"/>
            <a:ext cx="2651760" cy="2651760"/>
          </a:xfrm>
          <a:prstGeom prst="rect">
            <a:avLst>
              <a:gd name="adj" fmla="val 4138"/>
            </a:avLst>
          </a:prstGeom>
          <a:solidFill>
            <a:srgbClr val="232121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72600" y="33375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spc="-100" kern="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8%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9372600" y="4160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72600" y="457200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2B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salary, office, accounting, tooling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6126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39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investor: open. Soft circles already from 2 Indian construction-tech operators + 1 angel.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E8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4114800"/>
            <a:ext cx="6400800" cy="6400800"/>
          </a:xfrm>
          <a:prstGeom prst="ellipse">
            <a:avLst/>
          </a:prstGeom>
          <a:solidFill>
            <a:srgbClr val="D97706">
              <a:alpha val="25000"/>
            </a:srgbClr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THE RECORD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spc="-100" kern="0" dirty="0">
                <a:solidFill>
                  <a:srgbClr val="C2BB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Procore charges ₹31,000.
</a:t>
            </a:r>
            <a:pPr indent="0" marL="0">
              <a:buNone/>
            </a:pPr>
            <a:r>
              <a:rPr lang="en-US" sz="4400" spc="-100" kern="0" dirty="0">
                <a:solidFill>
                  <a:srgbClr val="FFF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charge ₹999.
</a:t>
            </a:r>
            <a:pPr indent="0" marL="0">
              <a:buNone/>
            </a:pPr>
            <a:r>
              <a:rPr lang="en-US" sz="3600" spc="-100" kern="0" dirty="0">
                <a:solidFill>
                  <a:srgbClr val="FFF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drawings.
</a:t>
            </a:r>
            <a:pPr indent="0" marL="0">
              <a:buNone/>
            </a:pPr>
            <a:r>
              <a:rPr lang="en-US" sz="3600" spc="-100" kern="0" dirty="0">
                <a:solidFill>
                  <a:srgbClr val="FFF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RA bills.
</a:t>
            </a:r>
            <a:pPr indent="0" marL="0">
              <a:buNone/>
            </a:pPr>
            <a:r>
              <a:rPr lang="en-US" sz="4400" i="1" spc="-100" kern="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compliance.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E88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Made in Hyderabad with chai and chalk lines.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Rakesh Boyapati  ·  hello@sitetrack.in  ·  sitetrack.in  ·  +91 ●●●●● ●●●●●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E8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GiggleZen Technologies Pvt.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SiteTrack Pro — Investor Pitch</dc:title>
  <dc:subject>Pre-seed / Seed round</dc:subject>
  <dc:creator>GiggleZen Technologies</dc:creator>
  <cp:lastModifiedBy>GiggleZen Technologies</cp:lastModifiedBy>
  <cp:revision>1</cp:revision>
  <dcterms:created xsi:type="dcterms:W3CDTF">2026-05-27T11:58:35Z</dcterms:created>
  <dcterms:modified xsi:type="dcterms:W3CDTF">2026-05-27T11:58:35Z</dcterms:modified>
</cp:coreProperties>
</file>